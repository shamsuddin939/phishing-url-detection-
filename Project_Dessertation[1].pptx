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7" r:id="rId8"/>
    <p:sldId id="261" r:id="rId9"/>
    <p:sldId id="268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53" autoAdjust="0"/>
    <p:restoredTop sz="94660"/>
  </p:normalViewPr>
  <p:slideViewPr>
    <p:cSldViewPr snapToGrid="0">
      <p:cViewPr>
        <p:scale>
          <a:sx n="75" d="100"/>
          <a:sy n="75" d="100"/>
        </p:scale>
        <p:origin x="485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00DA2228-C5C7-46B4-B0FC-37BA52A1B235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8BE106D-31EF-41AD-89B7-866C39B5E5A8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0344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2228-C5C7-46B4-B0FC-37BA52A1B235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E106D-31EF-41AD-89B7-866C39B5E5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918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2228-C5C7-46B4-B0FC-37BA52A1B235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E106D-31EF-41AD-89B7-866C39B5E5A8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510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2228-C5C7-46B4-B0FC-37BA52A1B235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E106D-31EF-41AD-89B7-866C39B5E5A8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8544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2228-C5C7-46B4-B0FC-37BA52A1B235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E106D-31EF-41AD-89B7-866C39B5E5A8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3544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2228-C5C7-46B4-B0FC-37BA52A1B235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E106D-31EF-41AD-89B7-866C39B5E5A8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707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2228-C5C7-46B4-B0FC-37BA52A1B235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E106D-31EF-41AD-89B7-866C39B5E5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218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2228-C5C7-46B4-B0FC-37BA52A1B235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E106D-31EF-41AD-89B7-866C39B5E5A8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0594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2228-C5C7-46B4-B0FC-37BA52A1B235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E106D-31EF-41AD-89B7-866C39B5E5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23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2228-C5C7-46B4-B0FC-37BA52A1B235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E106D-31EF-41AD-89B7-866C39B5E5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1633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2228-C5C7-46B4-B0FC-37BA52A1B235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E106D-31EF-41AD-89B7-866C39B5E5A8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4001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2228-C5C7-46B4-B0FC-37BA52A1B235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E106D-31EF-41AD-89B7-866C39B5E5A8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76111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2228-C5C7-46B4-B0FC-37BA52A1B235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E106D-31EF-41AD-89B7-866C39B5E5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3082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2228-C5C7-46B4-B0FC-37BA52A1B235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E106D-31EF-41AD-89B7-866C39B5E5A8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905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2228-C5C7-46B4-B0FC-37BA52A1B235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E106D-31EF-41AD-89B7-866C39B5E5A8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61472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2228-C5C7-46B4-B0FC-37BA52A1B235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E106D-31EF-41AD-89B7-866C39B5E5A8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98690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A2228-C5C7-46B4-B0FC-37BA52A1B235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E106D-31EF-41AD-89B7-866C39B5E5A8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698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0DA2228-C5C7-46B4-B0FC-37BA52A1B235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8BE106D-31EF-41AD-89B7-866C39B5E5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3862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doi/10.1145/2019599.2019606" TargetMode="External"/><Relationship Id="rId2" Type="http://schemas.openxmlformats.org/officeDocument/2006/relationships/hyperlink" Target="https://dl.acm.org/doi/10.1145/1299015.1299021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sciencedirect.com/science/article/abs/pii/S0957417418306067" TargetMode="External"/><Relationship Id="rId4" Type="http://schemas.openxmlformats.org/officeDocument/2006/relationships/hyperlink" Target="https://cseweb.ucsd.edu/~jtma/papers/beyondbl-kdd2009.pdf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116DB-F06D-E94B-FF50-1847537216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2593" y="1524000"/>
            <a:ext cx="7944465" cy="1905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/>
              <a:t>REAL-TIME PHISHING URL             DETECTION USING </a:t>
            </a:r>
            <a:br>
              <a:rPr lang="en-US" sz="4000" b="1" dirty="0"/>
            </a:br>
            <a:r>
              <a:rPr lang="en-US" sz="4000" b="1" dirty="0"/>
              <a:t>ML  AND DL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6D4CA6-CB4A-FF8D-FF74-C8D8037038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4710" y="3726426"/>
            <a:ext cx="6017342" cy="1607574"/>
          </a:xfrm>
        </p:spPr>
        <p:txBody>
          <a:bodyPr/>
          <a:lstStyle/>
          <a:p>
            <a:pPr algn="l"/>
            <a:r>
              <a:rPr lang="en-US" b="1" dirty="0"/>
              <a:t>NAME : </a:t>
            </a:r>
            <a:r>
              <a:rPr lang="en-US" dirty="0"/>
              <a:t>Shaikh Shamsuddin Mohiuddin</a:t>
            </a:r>
          </a:p>
          <a:p>
            <a:pPr algn="l"/>
            <a:r>
              <a:rPr lang="en-IN" b="1" dirty="0"/>
              <a:t>SEAT NO : </a:t>
            </a:r>
            <a:r>
              <a:rPr lang="en-IN" dirty="0"/>
              <a:t>3010205</a:t>
            </a:r>
          </a:p>
          <a:p>
            <a:pPr algn="l"/>
            <a:r>
              <a:rPr lang="en-IN" b="1" dirty="0"/>
              <a:t>COURSE : </a:t>
            </a:r>
            <a:r>
              <a:rPr lang="en-IN" dirty="0"/>
              <a:t>T.Y.I.T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2533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9641F-B139-4C2D-C326-4BD47C496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6BB61-0D91-9ECF-2647-CD1F9EF0E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408902"/>
            <a:ext cx="9603275" cy="305744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Phishing is a cyber-attack where fake websites trick users into giving sensitive information.</a:t>
            </a:r>
            <a:endParaRPr lang="en-IN" dirty="0"/>
          </a:p>
          <a:p>
            <a:r>
              <a:rPr lang="en-US" dirty="0"/>
              <a:t>Daily thousands of users lose their data and money due to such attacks.</a:t>
            </a:r>
            <a:endParaRPr lang="en-IN" dirty="0"/>
          </a:p>
          <a:p>
            <a:r>
              <a:rPr lang="en-US" dirty="0"/>
              <a:t>This project aims to detect such phishing URLs in </a:t>
            </a:r>
            <a:r>
              <a:rPr lang="en-US" b="1" dirty="0"/>
              <a:t>real-time</a:t>
            </a:r>
            <a:r>
              <a:rPr lang="en-US" dirty="0"/>
              <a:t> using </a:t>
            </a:r>
            <a:r>
              <a:rPr lang="en-US" b="1" dirty="0"/>
              <a:t>Machine Learning</a:t>
            </a:r>
            <a:r>
              <a:rPr lang="en-US" dirty="0"/>
              <a:t> and </a:t>
            </a:r>
            <a:r>
              <a:rPr lang="en-US" b="1" dirty="0"/>
              <a:t>Deep Learning</a:t>
            </a:r>
            <a:r>
              <a:rPr lang="en-US" dirty="0"/>
              <a:t>.</a:t>
            </a:r>
          </a:p>
          <a:p>
            <a:r>
              <a:rPr lang="en-US" dirty="0"/>
              <a:t>It not only analyzes the URL structure but also user interaction and site behavior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6619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05C52-EE32-B8F1-9C3E-5268BE60E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076DF-B3AA-43AB-CECC-B6D11AABF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507226"/>
            <a:ext cx="9603275" cy="2959119"/>
          </a:xfrm>
        </p:spPr>
        <p:txBody>
          <a:bodyPr/>
          <a:lstStyle/>
          <a:p>
            <a:r>
              <a:rPr lang="en-US" dirty="0"/>
              <a:t>Detect phishing URLs in real-time with high accuracy.</a:t>
            </a:r>
          </a:p>
          <a:p>
            <a:r>
              <a:rPr lang="en-US" dirty="0"/>
              <a:t>Analyze behavioral patterns such as redirects, form triggers, SSL info, etc.</a:t>
            </a:r>
          </a:p>
          <a:p>
            <a:r>
              <a:rPr lang="en-US" dirty="0"/>
              <a:t>Train machine learning and deep learning models for intelligent prediction.</a:t>
            </a:r>
          </a:p>
          <a:p>
            <a:r>
              <a:rPr lang="en-US" dirty="0"/>
              <a:t>Warn users instantly before they access suspicious or harmful links.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3188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FB6EB-EE45-E6A3-76BD-D26EEA64E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7AA75-AA09-BA09-B017-FBB563817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b="1" dirty="0"/>
              <a:t>Dataset Collection </a:t>
            </a:r>
            <a:r>
              <a:rPr lang="en-IN" sz="1800" b="1" dirty="0"/>
              <a:t>:</a:t>
            </a:r>
            <a:r>
              <a:rPr lang="en-IN" sz="1800" dirty="0"/>
              <a:t> </a:t>
            </a:r>
            <a:r>
              <a:rPr lang="en-IN" dirty="0"/>
              <a:t>Collect phishing and legitimate URLs from sources like </a:t>
            </a:r>
            <a:r>
              <a:rPr lang="en-IN" dirty="0" err="1"/>
              <a:t>PhishTank</a:t>
            </a:r>
            <a:r>
              <a:rPr lang="en-IN" dirty="0"/>
              <a:t>, Kaggle.</a:t>
            </a:r>
          </a:p>
          <a:p>
            <a:r>
              <a:rPr lang="en-IN" sz="2400" b="1" dirty="0"/>
              <a:t>Feature Extraction:</a:t>
            </a:r>
            <a:r>
              <a:rPr lang="en-IN" sz="2400" dirty="0"/>
              <a:t> </a:t>
            </a:r>
            <a:r>
              <a:rPr lang="en-IN" dirty="0"/>
              <a:t>Analyse structure — length, symbols, IP usage, domain age, etc.</a:t>
            </a:r>
          </a:p>
          <a:p>
            <a:r>
              <a:rPr lang="en-IN" sz="2400" b="1"/>
              <a:t>Model </a:t>
            </a:r>
            <a:r>
              <a:rPr lang="en-IN" sz="2400" b="1" dirty="0"/>
              <a:t>Training:</a:t>
            </a:r>
            <a:r>
              <a:rPr lang="en-IN" sz="2400" dirty="0"/>
              <a:t> </a:t>
            </a:r>
            <a:r>
              <a:rPr lang="en-IN" dirty="0"/>
              <a:t>Use ML and DL algorithms to classify URLs as phishing or safe.</a:t>
            </a:r>
          </a:p>
          <a:p>
            <a:r>
              <a:rPr lang="en-IN" sz="2400" b="1" dirty="0"/>
              <a:t>Real-Time Detection:</a:t>
            </a:r>
            <a:r>
              <a:rPr lang="en-IN" sz="2400" dirty="0"/>
              <a:t> </a:t>
            </a:r>
            <a:r>
              <a:rPr lang="en-IN" dirty="0"/>
              <a:t>User inputs URL → Prediction → Alert system</a:t>
            </a:r>
          </a:p>
        </p:txBody>
      </p:sp>
    </p:spTree>
    <p:extLst>
      <p:ext uri="{BB962C8B-B14F-4D97-AF65-F5344CB8AC3E}">
        <p14:creationId xmlns:p14="http://schemas.microsoft.com/office/powerpoint/2010/main" val="1034953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9D6E1-B5F8-7AF9-EC89-8F8D124F8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 &amp;  Technology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26123-71CB-AD9F-0096-BEF19A9D0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28568"/>
            <a:ext cx="9601196" cy="3667432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sz="3600" b="1" dirty="0"/>
              <a:t>1  Frontend:</a:t>
            </a:r>
            <a:endParaRPr lang="en-IN" sz="3600" dirty="0"/>
          </a:p>
          <a:p>
            <a:pPr lvl="1"/>
            <a:r>
              <a:rPr lang="en-IN" sz="2900" dirty="0"/>
              <a:t>HTML, CSS, JavaScript</a:t>
            </a:r>
          </a:p>
          <a:p>
            <a:pPr marL="457200" lvl="1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3600" b="1" dirty="0"/>
              <a:t>2  Backend:</a:t>
            </a:r>
            <a:endParaRPr lang="en-IN" sz="3600" dirty="0"/>
          </a:p>
          <a:p>
            <a:pPr lvl="1"/>
            <a:r>
              <a:rPr lang="en-IN" sz="2900" dirty="0"/>
              <a:t>Python Flask Framework</a:t>
            </a:r>
          </a:p>
          <a:p>
            <a:pPr lvl="1"/>
            <a:r>
              <a:rPr lang="en-IN" sz="2900" dirty="0"/>
              <a:t>Machine Learning(Random Forest, Logistic Regression , Classification)</a:t>
            </a:r>
          </a:p>
          <a:p>
            <a:pPr lvl="1"/>
            <a:r>
              <a:rPr lang="en-IN" sz="2900" dirty="0"/>
              <a:t>Deep Learning (TensorFlow, </a:t>
            </a:r>
            <a:r>
              <a:rPr lang="en-IN" sz="2900" dirty="0" err="1"/>
              <a:t>XGBoost</a:t>
            </a:r>
            <a:r>
              <a:rPr lang="en-IN" sz="2900" dirty="0"/>
              <a:t>, </a:t>
            </a:r>
            <a:r>
              <a:rPr lang="en-IN" sz="2900" dirty="0" err="1"/>
              <a:t>CatBoost</a:t>
            </a:r>
            <a:r>
              <a:rPr lang="en-IN" sz="2900" dirty="0"/>
              <a:t>)</a:t>
            </a:r>
          </a:p>
          <a:p>
            <a:pPr lvl="1"/>
            <a:r>
              <a:rPr lang="en-IN" sz="2900" dirty="0"/>
              <a:t>Database (MySQL)</a:t>
            </a:r>
          </a:p>
          <a:p>
            <a:pPr marL="457200" lvl="1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3600" b="1" dirty="0"/>
              <a:t>3  Tools &amp; Libraries:</a:t>
            </a:r>
            <a:endParaRPr lang="en-IN" sz="3600" dirty="0"/>
          </a:p>
          <a:p>
            <a:pPr lvl="1"/>
            <a:r>
              <a:rPr lang="en-IN" sz="2900" dirty="0"/>
              <a:t>Scikit-learn, TensorFlow/ </a:t>
            </a:r>
            <a:r>
              <a:rPr lang="en-IN" sz="2900" dirty="0" err="1"/>
              <a:t>Keras</a:t>
            </a:r>
            <a:r>
              <a:rPr lang="en-IN" sz="2900" dirty="0"/>
              <a:t>, Pandas, NumPy, Matplotlib, Seaborn</a:t>
            </a:r>
          </a:p>
          <a:p>
            <a:pPr lvl="1"/>
            <a:r>
              <a:rPr lang="en-IN" sz="2900" dirty="0"/>
              <a:t>Anaconda /</a:t>
            </a:r>
            <a:r>
              <a:rPr lang="en-IN" sz="2900" dirty="0" err="1"/>
              <a:t>Jupyter</a:t>
            </a:r>
            <a:r>
              <a:rPr lang="en-IN" sz="2900" dirty="0"/>
              <a:t> Notebook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9380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7055F-8F35-644A-0C47-43BF68BEC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419" y="663676"/>
            <a:ext cx="10746658" cy="71283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Flow Chart diagram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DDB88C-8ADD-49E6-D46C-3506A9F6C5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852" y="1376516"/>
            <a:ext cx="9507794" cy="4817807"/>
          </a:xfrm>
        </p:spPr>
      </p:pic>
    </p:spTree>
    <p:extLst>
      <p:ext uri="{BB962C8B-B14F-4D97-AF65-F5344CB8AC3E}">
        <p14:creationId xmlns:p14="http://schemas.microsoft.com/office/powerpoint/2010/main" val="1906551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E4C86-B45D-888D-1833-32D516E6F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CB19B-491B-D467-8D82-02B18CF0E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146" y="2526889"/>
            <a:ext cx="10297769" cy="323481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Real-time Detection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Behavioural Analysis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Automatic Feature Extraction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Self-Improving System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AI-Powered Accuracy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Preventive Security Measure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User-Friendly Interface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0229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33E3A-72C4-4A6F-31FC-5E56A7DA6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Existing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1FF4C-B1D4-6C14-BC3B-7E3A0D20F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 Problem Statement:</a:t>
            </a:r>
            <a:br>
              <a:rPr lang="en-US" dirty="0"/>
            </a:br>
            <a:r>
              <a:rPr lang="en-US" dirty="0"/>
              <a:t>Phishing attacks have become one of the most common cybersecurity threats.</a:t>
            </a:r>
            <a:br>
              <a:rPr lang="en-US" dirty="0"/>
            </a:br>
            <a:r>
              <a:rPr lang="en-US" dirty="0"/>
              <a:t>Hackers create fake websites and URLs to steal user credentials, banking details, and personal information.</a:t>
            </a:r>
          </a:p>
          <a:p>
            <a:pPr marL="0" indent="0">
              <a:buNone/>
            </a:pPr>
            <a:r>
              <a:rPr lang="en-US" dirty="0"/>
              <a:t>    Traditional security systems fail to detect newly generated phishing URLs in real-time.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 Existing Systems Issues:</a:t>
            </a:r>
            <a:endParaRPr lang="en-US" dirty="0"/>
          </a:p>
          <a:p>
            <a:pPr lvl="1"/>
            <a:r>
              <a:rPr lang="en-US" dirty="0"/>
              <a:t>Depend only on blacklisted URLs (limited database)</a:t>
            </a:r>
          </a:p>
          <a:p>
            <a:pPr lvl="1"/>
            <a:r>
              <a:rPr lang="en-US" dirty="0"/>
              <a:t>Cannot detect new or dynamically generated phishing links</a:t>
            </a:r>
          </a:p>
          <a:p>
            <a:pPr lvl="1"/>
            <a:r>
              <a:rPr lang="en-US" dirty="0"/>
              <a:t>Lack behavioral analysis and AI-based detection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2683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E5AB4-E07B-BF43-2FFD-889655DDB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Expected Outcome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950CFF6-8D5B-EF27-6ED1-96B597AFF2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24000" y="2602361"/>
            <a:ext cx="9006348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97% phishing detection accuracy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real-time web interface to test any URL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Visual analytics: risk level chart, confusion matrix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Live alert system for suspicious links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Complete project ready with code, UI, and documentation</a:t>
            </a:r>
          </a:p>
        </p:txBody>
      </p:sp>
    </p:spTree>
    <p:extLst>
      <p:ext uri="{BB962C8B-B14F-4D97-AF65-F5344CB8AC3E}">
        <p14:creationId xmlns:p14="http://schemas.microsoft.com/office/powerpoint/2010/main" val="3635557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63EF0-E122-8352-E036-F91A25F38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and Future Enhancement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0062D-7741-EF5E-DFEE-F571C1A09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 Conclusion:</a:t>
            </a:r>
            <a:br>
              <a:rPr lang="en-IN" dirty="0"/>
            </a:br>
            <a:r>
              <a:rPr lang="en-IN" sz="2200" dirty="0"/>
              <a:t>The project effectively detects phishing URLs using AI-based models and helps reduce online fraud.</a:t>
            </a:r>
            <a:br>
              <a:rPr lang="en-IN" sz="2200" dirty="0"/>
            </a:br>
            <a:r>
              <a:rPr lang="en-IN" sz="2200" dirty="0"/>
              <a:t>It provides accurate, fast, and automated URL classification.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 Future Enhancements:</a:t>
            </a:r>
            <a:endParaRPr lang="en-IN" dirty="0"/>
          </a:p>
          <a:p>
            <a:pPr lvl="1"/>
            <a:r>
              <a:rPr lang="en-IN" sz="2200" dirty="0"/>
              <a:t>Add browser extension for live URL scanning</a:t>
            </a:r>
          </a:p>
          <a:p>
            <a:pPr lvl="1"/>
            <a:r>
              <a:rPr lang="en-IN" sz="2200" dirty="0"/>
              <a:t>Support for mobile application integration</a:t>
            </a:r>
          </a:p>
          <a:p>
            <a:pPr lvl="1"/>
            <a:r>
              <a:rPr lang="en-IN" sz="2200" dirty="0"/>
              <a:t>Multilingual phishing site detection</a:t>
            </a:r>
          </a:p>
          <a:p>
            <a:pPr lvl="1"/>
            <a:r>
              <a:rPr lang="en-IN" sz="2200" dirty="0"/>
              <a:t>Real-time user alert system</a:t>
            </a:r>
          </a:p>
          <a:p>
            <a:pPr lvl="1"/>
            <a:r>
              <a:rPr lang="en-IN" sz="2200" dirty="0"/>
              <a:t>Progress for Security in dark Web fraud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6486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4A236-A5E5-DCEB-8AA7-00D61DCBF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8A16F-DFED-4571-1DF9-20F7C45BE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/>
              <a:t>1.  </a:t>
            </a:r>
            <a:r>
              <a:rPr lang="en-IN" dirty="0"/>
              <a:t>Abu-Nimeh, T., Nappa, D., Wang, X., &amp; Nair, S. — </a:t>
            </a:r>
            <a:r>
              <a:rPr lang="en-IN" i="1" dirty="0"/>
              <a:t>A comparison of machine learning techniques for phishing detection.</a:t>
            </a:r>
            <a:r>
              <a:rPr lang="en-IN" dirty="0"/>
              <a:t> (</a:t>
            </a:r>
            <a:r>
              <a:rPr lang="en-IN" dirty="0" err="1"/>
              <a:t>eCrime</a:t>
            </a:r>
            <a:r>
              <a:rPr lang="en-IN" dirty="0"/>
              <a:t> / ACM) </a:t>
            </a:r>
          </a:p>
          <a:p>
            <a:pPr marL="0" indent="0">
              <a:buNone/>
            </a:pPr>
            <a:r>
              <a:rPr lang="en-IN" dirty="0"/>
              <a:t>                         </a:t>
            </a:r>
            <a:r>
              <a:rPr lang="en-IN" dirty="0" err="1"/>
              <a:t>Retrived</a:t>
            </a:r>
            <a:r>
              <a:rPr lang="en-IN" dirty="0"/>
              <a:t> from  : </a:t>
            </a:r>
            <a:r>
              <a:rPr lang="en-IN" u="sng" dirty="0">
                <a:hlinkClick r:id="rId2"/>
              </a:rPr>
              <a:t>https://dl.acm.org/doi/10.1145/1299015.1299021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 </a:t>
            </a:r>
          </a:p>
          <a:p>
            <a:pPr marL="0" indent="0">
              <a:buNone/>
            </a:pPr>
            <a:r>
              <a:rPr lang="en-IN" b="1" dirty="0"/>
              <a:t>2.</a:t>
            </a:r>
            <a:r>
              <a:rPr lang="en-IN" dirty="0"/>
              <a:t>  Xiang, G., Hong, J., </a:t>
            </a:r>
            <a:r>
              <a:rPr lang="en-IN" dirty="0" err="1"/>
              <a:t>Rosemblat</a:t>
            </a:r>
            <a:r>
              <a:rPr lang="en-IN" dirty="0"/>
              <a:t>, G., &amp; Cranor, L. — </a:t>
            </a:r>
            <a:r>
              <a:rPr lang="en-IN" i="1" dirty="0"/>
              <a:t>CANTINA+: A feature-rich ML framework for detecting phishing web sites.</a:t>
            </a:r>
            <a:r>
              <a:rPr lang="en-IN" dirty="0"/>
              <a:t> (TSEC/ACM).</a:t>
            </a:r>
          </a:p>
          <a:p>
            <a:pPr marL="0" indent="0">
              <a:buNone/>
            </a:pPr>
            <a:r>
              <a:rPr lang="en-IN" dirty="0"/>
              <a:t>                        </a:t>
            </a:r>
            <a:r>
              <a:rPr lang="en-IN" dirty="0" err="1"/>
              <a:t>Retrived</a:t>
            </a:r>
            <a:r>
              <a:rPr lang="en-IN" dirty="0"/>
              <a:t> from :  </a:t>
            </a:r>
            <a:r>
              <a:rPr lang="en-IN" u="sng" dirty="0">
                <a:hlinkClick r:id="rId3"/>
              </a:rPr>
              <a:t>https://dl.acm.org/doi/10.1145/2019599.2019606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 </a:t>
            </a:r>
          </a:p>
          <a:p>
            <a:pPr marL="0" indent="0">
              <a:buNone/>
            </a:pPr>
            <a:r>
              <a:rPr lang="en-IN" b="1" dirty="0"/>
              <a:t>3</a:t>
            </a:r>
            <a:r>
              <a:rPr lang="en-IN" dirty="0"/>
              <a:t>.  Ma, J., Saul, L. K., Savage, S., &amp; Voelker, G. M. — </a:t>
            </a:r>
            <a:r>
              <a:rPr lang="en-IN" i="1" dirty="0"/>
              <a:t>Beyond Blacklists: Learning to detect malicious web sites from suspicious URLs.</a:t>
            </a:r>
            <a:r>
              <a:rPr lang="en-IN" dirty="0"/>
              <a:t> (KDD 2009)</a:t>
            </a:r>
          </a:p>
          <a:p>
            <a:pPr marL="0" indent="0">
              <a:buNone/>
            </a:pPr>
            <a:r>
              <a:rPr lang="en-IN" dirty="0"/>
              <a:t>                        </a:t>
            </a:r>
            <a:r>
              <a:rPr lang="en-IN" dirty="0" err="1"/>
              <a:t>Retrived</a:t>
            </a:r>
            <a:r>
              <a:rPr lang="en-IN" dirty="0"/>
              <a:t> from : </a:t>
            </a:r>
            <a:r>
              <a:rPr lang="en-IN" u="sng" dirty="0">
                <a:hlinkClick r:id="rId4"/>
              </a:rPr>
              <a:t>https://cseweb.ucsd.edu/~jtma/papers/beyondbl-kdd2009.pdf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 </a:t>
            </a:r>
          </a:p>
          <a:p>
            <a:pPr marL="0" indent="0">
              <a:buNone/>
            </a:pPr>
            <a:r>
              <a:rPr lang="en-IN" b="1" dirty="0"/>
              <a:t>4.</a:t>
            </a:r>
            <a:r>
              <a:rPr lang="en-IN" dirty="0"/>
              <a:t>  </a:t>
            </a:r>
            <a:r>
              <a:rPr lang="en-IN" dirty="0" err="1"/>
              <a:t>Sahingoz</a:t>
            </a:r>
            <a:r>
              <a:rPr lang="en-IN" dirty="0"/>
              <a:t>, O. K., Buber, E., Demir, O., &amp; Diri, B. — </a:t>
            </a:r>
            <a:r>
              <a:rPr lang="en-IN" i="1" dirty="0"/>
              <a:t>Machine learning based phishing detection from URLs.</a:t>
            </a:r>
            <a:r>
              <a:rPr lang="en-IN" dirty="0"/>
              <a:t> Expert Systems With Applications (2019) </a:t>
            </a:r>
          </a:p>
          <a:p>
            <a:pPr marL="0" indent="0">
              <a:buNone/>
            </a:pPr>
            <a:r>
              <a:rPr lang="en-IN" dirty="0"/>
              <a:t>                        </a:t>
            </a:r>
            <a:r>
              <a:rPr lang="en-IN" dirty="0" err="1"/>
              <a:t>Retrived</a:t>
            </a:r>
            <a:r>
              <a:rPr lang="en-IN" dirty="0"/>
              <a:t> from: </a:t>
            </a:r>
            <a:r>
              <a:rPr lang="en-IN" u="sng" dirty="0">
                <a:hlinkClick r:id="rId5"/>
              </a:rPr>
              <a:t>https://www.sciencedirect.com/science/article/abs/pii/S0957417418306067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4782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1B402-D290-BA2C-7647-280984B2E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9600" y="2204720"/>
            <a:ext cx="8382000" cy="2743200"/>
          </a:xfrm>
        </p:spPr>
        <p:txBody>
          <a:bodyPr/>
          <a:lstStyle/>
          <a:p>
            <a:r>
              <a:rPr lang="en-US" sz="4800" b="1" dirty="0"/>
              <a:t>Thanks   for   Your Attention!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01605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112</TotalTime>
  <Words>699</Words>
  <Application>Microsoft Office PowerPoint</Application>
  <PresentationFormat>Widescreen</PresentationFormat>
  <Paragraphs>79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Garamond</vt:lpstr>
      <vt:lpstr>Wingdings</vt:lpstr>
      <vt:lpstr>Organic</vt:lpstr>
      <vt:lpstr>REAL-TIME PHISHING URL             DETECTION USING  ML  AND DL</vt:lpstr>
      <vt:lpstr>Introduction</vt:lpstr>
      <vt:lpstr>Objectives</vt:lpstr>
      <vt:lpstr>Methodology</vt:lpstr>
      <vt:lpstr>Tools  &amp;  Technology</vt:lpstr>
      <vt:lpstr>Flow Chart diagram</vt:lpstr>
      <vt:lpstr>advantage</vt:lpstr>
      <vt:lpstr>Existing Problem</vt:lpstr>
      <vt:lpstr>Expected Outcome</vt:lpstr>
      <vt:lpstr>Conclusion and Future Enhancement</vt:lpstr>
      <vt:lpstr>References</vt:lpstr>
      <vt:lpstr>Thanks   for   Your Attention!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shamsuddinshaikh266@outlook.com</dc:creator>
  <cp:lastModifiedBy>shamsuddinshaikh266@outlook.com</cp:lastModifiedBy>
  <cp:revision>9</cp:revision>
  <dcterms:created xsi:type="dcterms:W3CDTF">2025-10-11T14:00:06Z</dcterms:created>
  <dcterms:modified xsi:type="dcterms:W3CDTF">2026-04-02T04:36:11Z</dcterms:modified>
</cp:coreProperties>
</file>